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virtual workshop. You can follow along live — the platform is open now at neuromatrixbiosystems.com/spice-to-synapse. No login, no coding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we are solving. 57 million dementia patients globally, millions of stroke survivors in Africa, and not a single drug developed on African soil for these conditions. That is the gap this research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cinnamon in your local market contains compounds that hit the same target as donepezil — the current standard Alzheimer's drug. That is the story. The platform we built evaluates this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at Step 3 today. Steps 1 and 2 are already done — 84 animals, real data, published results. Steps 4 and 5 are what we need partners for. This platform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 and open the platform. Show them Module 01 first. Keep this slide on screen so people can see the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BROWSER NOW. Load Cinnamaldehyde first as the reference. Narrate while it runs: 'It is checking this compound against 8 brain disease targets simultaneously.' When results appear, point to the Grade A badge first, then the AChE score -10.5 kcal/mol.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score in everyday language. The lock-and-key analogy always lands. Point to Cinnamaldehyde -10.5 — ask: 'Is that good?' Answer: donepezil, the standard Alzheimer's drug, works by the same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BROWSER. Click Module 02. Load the cinnamon study parameters. Narrate: 'This is predicting what our 84-animal study would show — before running it.' Point to the biomarker trajectories. Then reveal: our real results matched these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BROWSER. Load Cinnamaldehyde profile in Module 03. Narrate: 'This is predicting what would happen if we gave this compound to a patient in Lagos — right now, without touching a single human.' Point to the IND score gauge and the Nigerian population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results from a real study. 84 animals is a full-scale preclinical trial. 84.8% AI accuracy is higher than most published biomarker classification studies. This is publication-ready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clinical argument. Clinicians in the audience: every target on this slide maps directly to a clinical endpoint you already measure. Ask: 'Who here treats dementia or stroke patients?' Then: 'These are the proteins your patients need treated.'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15 minutes. Walk the virtual room — ask people in chat to share their plant name. After the exercise, call on 2-3 participants to share their finding. The key question: 'Did your plant surprise you?'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card as a direct invitation: 'If this is you — I am talking to you personally. Email me before this session ends.' Pause on each one.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roadmap shows where the money goes — for anyone thinking about TETFund or Fogarty grants. We have stages 1 and 2 done. Everything from Stage 3 onward is collaboration territory.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conviction. Pause after reading the one sentence. Then: 'The platform is open right now. If you want collaboration — email me before you close this window. The URL is on screen.' Stay on this slide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4389120" y="-182880"/>
            <a:ext cx="5029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0116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A3A5C"/>
          </a:solidFill>
          <a:ln w="12700">
            <a:solidFill>
              <a:srgbClr val="00D4B8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01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8"/>
                </a:solidFill>
              </a:rPr>
              <a:t>🎓  NSN 2026  ·  Virtual Workshop  ·  Abuja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2984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to Synapse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African Plants to Find New Drugs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Memory Loss and Stroke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4114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56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AI platform you can use yourself — no coding needed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2336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45262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Plants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402336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5262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Diseases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023360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66160" y="45262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486400" y="384048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 w="12700">
            <a:solidFill>
              <a:srgbClr val="00D4B8">
                <a:alpha val="8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8640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8"/>
                </a:solidFill>
              </a:rPr>
              <a:t>🌐  Open the platform now: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486400" y="4187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neuromatrixbiosystems.com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/spice-to-synapse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E7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Diseases. No African Drugs.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A1525"/>
          </a:solidFill>
          <a:ln w="12700">
            <a:solidFill>
              <a:srgbClr val="9B59FF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Million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have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A1525"/>
          </a:solidFill>
          <a:ln w="12700">
            <a:solidFill>
              <a:srgbClr val="FF5E7D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Million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38328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survivors in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A1525"/>
          </a:solidFill>
          <a:ln w="1270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30936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neuroprotective drugs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Africa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400507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1525"/>
          </a:solidFill>
          <a:ln w="12700">
            <a:solidFill>
              <a:srgbClr val="00D4B8">
                <a:alpha val="5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40416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"African healers have treated these conditions for centuries. We just never had the tools to listen — until now."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98A"/>
                </a:solidFill>
              </a:rPr>
              <a:t>OUR ANSWER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a Machine that Tests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African Plants as Brain Drugs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this 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3657600" cy="2606040"/>
          </a:xfrm>
          <a:prstGeom prst="roundRect">
            <a:avLst>
              <a:gd name="adj" fmla="val 4912"/>
            </a:avLst>
          </a:prstGeom>
          <a:solidFill>
            <a:srgbClr val="FFF8E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29968"/>
            <a:ext cx="3657600" cy="457200"/>
          </a:xfrm>
          <a:prstGeom prst="roundRect">
            <a:avLst>
              <a:gd name="adj" fmla="val 28000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75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🌿  Saigon Cinnamon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(Cinnamomum loureiroi)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cinnamon in your local market in Nigeria.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compounds extracted: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28016" cy="128016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02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Cinnamaldehyde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128016" cy="128016"/>
          </a:xfrm>
          <a:prstGeom prst="ellipse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05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25696"/>
            <a:ext cx="128016" cy="128016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Caryophyllene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27448"/>
            <a:ext cx="128016" cy="12801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709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τ-Muurolol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937760" y="2029968"/>
            <a:ext cx="3840480" cy="2606040"/>
          </a:xfrm>
          <a:prstGeom prst="roundRect">
            <a:avLst>
              <a:gd name="adj" fmla="val 4912"/>
            </a:avLst>
          </a:prstGeom>
          <a:solidFill>
            <a:srgbClr val="0B1525"/>
          </a:solidFill>
          <a:ln w="12700">
            <a:solidFill>
              <a:srgbClr val="00D4B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found: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487168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13248" y="2468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the same brain target as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donepezil (Alzheimer's drug)</a:t>
            </a:r>
            <a:endParaRPr lang="en-US" sz="11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01752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13248" y="29992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trigger that causes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brain damage</a:t>
            </a:r>
            <a:endParaRPr lang="en-US" sz="11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547872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13248" y="35295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animals tested — 100% accurate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of results</a:t>
            </a:r>
            <a:endParaRPr lang="en-US" sz="11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07822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13248" y="40599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all safety checks for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an oral drug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THE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Market Stall to Medicine —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Every Step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92608" y="1481328"/>
            <a:ext cx="1572768" cy="3063240"/>
          </a:xfrm>
          <a:prstGeom prst="roundRect">
            <a:avLst>
              <a:gd name="adj" fmla="val 6977"/>
            </a:avLst>
          </a:prstGeom>
          <a:solidFill>
            <a:srgbClr val="0A2030"/>
          </a:solidFill>
          <a:ln w="12700">
            <a:solidFill>
              <a:srgbClr val="2DD98A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618488"/>
            <a:ext cx="438912" cy="438912"/>
          </a:xfrm>
          <a:prstGeom prst="ellipse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Plant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7472" y="31729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African medicinal plant.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its active chemicals.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" y="413308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0A3A20"/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1330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98A"/>
                </a:solidFill>
              </a:rPr>
              <a:t>✓ Done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83664" y="2962656"/>
            <a:ext cx="128016" cy="0"/>
          </a:xfrm>
          <a:prstGeom prst="line">
            <a:avLst/>
          </a:prstGeom>
          <a:noFill/>
          <a:ln w="25400">
            <a:solidFill>
              <a:srgbClr val="3344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9968" y="1481328"/>
            <a:ext cx="1572768" cy="3063240"/>
          </a:xfrm>
          <a:prstGeom prst="roundRect">
            <a:avLst>
              <a:gd name="adj" fmla="val 6977"/>
            </a:avLst>
          </a:prstGeom>
          <a:solidFill>
            <a:srgbClr val="0A2030"/>
          </a:solidFill>
          <a:ln w="12700">
            <a:solidFill>
              <a:srgbClr val="00D4B8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96896" y="1618488"/>
            <a:ext cx="438912" cy="43891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6896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2148840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8483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Animals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084832" y="31729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cinnamon in 84 rats.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31 health markers.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304288" y="413308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0A3A20"/>
          </a:solidFill>
          <a:ln w="12700">
            <a:solidFill>
              <a:srgbClr val="00D4B8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304288" y="41330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</a:rPr>
              <a:t>✓ Done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21024" y="2962656"/>
            <a:ext cx="128016" cy="0"/>
          </a:xfrm>
          <a:prstGeom prst="line">
            <a:avLst/>
          </a:prstGeom>
          <a:noFill/>
          <a:ln w="25400">
            <a:solidFill>
              <a:srgbClr val="33446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67328" y="1481328"/>
            <a:ext cx="1572768" cy="3063240"/>
          </a:xfrm>
          <a:prstGeom prst="roundRect">
            <a:avLst>
              <a:gd name="adj" fmla="val 6977"/>
            </a:avLst>
          </a:prstGeom>
          <a:solidFill>
            <a:srgbClr val="1A3A1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34256" y="1618488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34256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148840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2219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AI Platform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3822192" y="31729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simulates drug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seconds. That's today.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041648" y="413308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3A2800"/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041648" y="41330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◉ TODAY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358384" y="2962656"/>
            <a:ext cx="128016" cy="0"/>
          </a:xfrm>
          <a:prstGeom prst="line">
            <a:avLst/>
          </a:prstGeom>
          <a:noFill/>
          <a:ln w="25400">
            <a:solidFill>
              <a:srgbClr val="33446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504688" y="1481328"/>
            <a:ext cx="1572768" cy="3063240"/>
          </a:xfrm>
          <a:prstGeom prst="roundRect">
            <a:avLst>
              <a:gd name="adj" fmla="val 6977"/>
            </a:avLst>
          </a:prstGeom>
          <a:solidFill>
            <a:srgbClr val="0D1E30"/>
          </a:solidFill>
          <a:ln w="12700">
            <a:solidFill>
              <a:srgbClr val="9B59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071616" y="1618488"/>
            <a:ext cx="438912" cy="438912"/>
          </a:xfrm>
          <a:prstGeom prst="ellipse">
            <a:avLst/>
          </a:prstGeom>
          <a:solidFill>
            <a:srgbClr val="9B59FF">
              <a:alpha val="60000"/>
            </a:srgbClr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071616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148840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5955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Confirmation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559552" y="31729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partner runs real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tests to confirm results.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779008" y="413308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0A2050"/>
          </a:solidFill>
          <a:ln w="12700">
            <a:solidFill>
              <a:srgbClr val="9B59FF">
                <a:alpha val="60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779008" y="41330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FF"/>
                </a:solidFill>
              </a:rPr>
              <a:t>→ Next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095744" y="2962656"/>
            <a:ext cx="128016" cy="0"/>
          </a:xfrm>
          <a:prstGeom prst="line">
            <a:avLst/>
          </a:prstGeom>
          <a:noFill/>
          <a:ln w="25400">
            <a:solidFill>
              <a:srgbClr val="334466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242048" y="1481328"/>
            <a:ext cx="1572768" cy="3063240"/>
          </a:xfrm>
          <a:prstGeom prst="roundRect">
            <a:avLst>
              <a:gd name="adj" fmla="val 6977"/>
            </a:avLst>
          </a:prstGeom>
          <a:solidFill>
            <a:srgbClr val="0D1E30"/>
          </a:solidFill>
          <a:ln w="12700">
            <a:solidFill>
              <a:srgbClr val="4A9E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808976" y="1618488"/>
            <a:ext cx="438912" cy="438912"/>
          </a:xfrm>
          <a:prstGeom prst="ellipse">
            <a:avLst/>
          </a:prstGeom>
          <a:solidFill>
            <a:srgbClr val="4A9EFF">
              <a:alpha val="6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808976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2148840"/>
            <a:ext cx="438912" cy="43891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29691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Trial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7296912" y="31729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safely in patients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approval.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7516368" y="413308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0A2050"/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516368" y="41330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→ Next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B8"/>
                </a:solidFill>
              </a:rPr>
              <a:t>THE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AI Tools.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Coding.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Website.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now on your device: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389120" cy="566928"/>
          </a:xfrm>
          <a:prstGeom prst="roundRect">
            <a:avLst>
              <a:gd name="adj" fmla="val 16129"/>
            </a:avLst>
          </a:prstGeom>
          <a:solidFill>
            <a:srgbClr val="1A3A5C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945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neuromatrixbiosystems.com/spice-to-synapse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852928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0A1525"/>
          </a:solidFill>
          <a:ln w="12700">
            <a:solidFill>
              <a:srgbClr val="2DD98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2816352"/>
            <a:ext cx="457200" cy="457200"/>
          </a:xfrm>
          <a:prstGeom prst="ellipse">
            <a:avLst/>
          </a:prstGeom>
          <a:solidFill>
            <a:srgbClr val="2DD98A">
              <a:alpha val="80000"/>
            </a:srgbClr>
          </a:solidFill>
          <a:ln w="12700">
            <a:solidFill>
              <a:srgbClr val="2DD98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163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Screener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plant.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drug potential in 60 seconds.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2852928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0A1525"/>
          </a:solidFill>
          <a:ln w="1270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816352"/>
            <a:ext cx="457200" cy="45720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81635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4612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Lab Test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animal study results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 single experiment.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2852928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0A1525"/>
          </a:solidFill>
          <a:ln w="12700">
            <a:solidFill>
              <a:srgbClr val="9B59FF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0" y="2816352"/>
            <a:ext cx="457200" cy="457200"/>
          </a:xfrm>
          <a:prstGeom prst="ellipse">
            <a:avLst/>
          </a:prstGeom>
          <a:solidFill>
            <a:srgbClr val="9B59FF">
              <a:alpha val="80000"/>
            </a:srgbClr>
          </a:solidFill>
          <a:ln w="12700">
            <a:solidFill>
              <a:srgbClr val="9B59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163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7220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Trial Predictor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0936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happens in 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before the first dose.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347472"/>
          </a:xfrm>
          <a:prstGeom prst="roundRect">
            <a:avLst>
              <a:gd name="adj" fmla="val 18421"/>
            </a:avLst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Screener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"Type a plant. Get a drug report in 60 seconds."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0F2040"/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checks for you: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6733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become a pill?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checks size, safety, and whether the body can absorb it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219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2037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stick to the disease target?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scores how strongly it grips the Alzheimer's or stroke protein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523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7340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reach the brain?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predicts whether it crosses the blood-brain barrier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8269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" y="32644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pathways does it hit?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maps all the biological processes it affects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1304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" y="37947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publish it?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grades the compound and identifies your next collaboration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572000" y="1143000"/>
            <a:ext cx="4251960" cy="3520440"/>
          </a:xfrm>
          <a:prstGeom prst="roundRect">
            <a:avLst>
              <a:gd name="adj" fmla="val 3117"/>
            </a:avLst>
          </a:prstGeom>
          <a:solidFill>
            <a:srgbClr val="0F2040"/>
          </a:solidFill>
          <a:ln w="12700">
            <a:solidFill>
              <a:srgbClr val="00D4B8">
                <a:alpha val="60000"/>
              </a:srgbClr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0916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(right now):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709160" y="171907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0916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074920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platform in your browser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709160" y="222199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70916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074920" y="22037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Module 01 — Plant Screener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709160" y="272491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70916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074920" y="27066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African plant (or click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"Cinnamaldehyde" to load our data)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709160" y="322783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091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074920" y="32095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disease to Both — Dementia &amp; Stroke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709160" y="373075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70916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074920" y="37124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— wait 20 seconds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709160" y="4233672"/>
            <a:ext cx="274320" cy="27432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70916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074920" y="42153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AI report — grade, targets,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narrative, next steps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365760" y="4736592"/>
            <a:ext cx="8458200" cy="457200"/>
          </a:xfrm>
          <a:prstGeom prst="roundRect">
            <a:avLst>
              <a:gd name="adj" fmla="val 16000"/>
            </a:avLst>
          </a:prstGeom>
          <a:solidFill>
            <a:srgbClr val="3A2800"/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80060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68680" y="4773168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Moringa oleifera, Ginger (Zingiber officinale), or Bitter leaf (Vernonia amygdalina) — plants your audience knows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98A"/>
                </a:solidFill>
              </a:rPr>
              <a:t>UNDERSTANDING THE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Score Actually Mean?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8FF"/>
          </a:solidFill>
          <a:ln w="1270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score tells you: how tightly does this plant compound grip the disease target?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lock and key — a lower (more negative) number = the key fits better = stronger drug candidate.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EAF9F3"/>
          </a:solidFill>
          <a:ln w="12700">
            <a:solidFill>
              <a:srgbClr val="2DD98A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591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−9 kcal/mol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74320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DD98A">
              <a:alpha val="80000"/>
            </a:srgbClr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98A"/>
                </a:solidFill>
              </a:rPr>
              <a:t>STRONG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approved drugs.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for lab testing.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4A9EFF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3591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−7.5 to −9 kcal/mol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274320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4A9EFF">
              <a:alpha val="80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GOOD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lead. Combine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safety data to advance.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2860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 w="12700">
            <a:solidFill>
              <a:srgbClr val="5A7A99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23591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 −7.5 kcal/mol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274320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5A7A99">
              <a:alpha val="80000"/>
            </a:srgbClr>
          </a:solidFill>
          <a:ln w="12700">
            <a:solidFill>
              <a:srgbClr val="5A7A99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A99"/>
                </a:solidFill>
              </a:rPr>
              <a:t>WEAK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still work in combinations.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other targets first.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8E6"/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Our cinnamon: Cinnamaldehyde scored −10.5 against AChE — stronger than many approved drugs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1772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980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score = go to the lab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61772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67588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safety = change formulation, not the plant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61772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0196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targets = even better for complex diseases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347472"/>
          </a:xfrm>
          <a:prstGeom prst="roundRect">
            <a:avLst>
              <a:gd name="adj" fmla="val 1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Lab Test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a complete animal study — on a computer — before spending a single Naira on lab costs."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1A0A00"/>
          </a:solidFill>
          <a:ln w="12700">
            <a:solidFill>
              <a:srgbClr val="FF5E7D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this platform: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Buy 84 rats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Get ethical approval (months)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Run experiments (months)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Analyse data (weeks)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Discover you picked the wrong compound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Start again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12-18 months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$30,000+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15568"/>
            <a:ext cx="4251960" cy="3520440"/>
          </a:xfrm>
          <a:prstGeom prst="roundRect">
            <a:avLst>
              <a:gd name="adj" fmla="val 3117"/>
            </a:avLst>
          </a:prstGeom>
          <a:solidFill>
            <a:srgbClr val="001A0A"/>
          </a:solidFill>
          <a:ln w="12700">
            <a:solidFill>
              <a:srgbClr val="2DD98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Module 02: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69164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0" y="1673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compound + disease model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3055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0" y="2112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predicted results for all 31 biomarkers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6946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2551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predicted biomarker charts instantly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00837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2990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tells you expected accuracy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472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if worth pursuing before any expense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886200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0" y="3867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benefit: up to 60% fewer animals needed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7091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seconds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Nothing extra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658368" cy="347472"/>
          </a:xfrm>
          <a:prstGeom prst="roundRect">
            <a:avLst>
              <a:gd name="adj" fmla="val 18421"/>
            </a:avLst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Trial Predictor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giving a drug to a patient — what dose? What side effects? What happens in a Nigerian body?"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00D4B8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075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1298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Starting Dose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4632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rat dose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FDA formula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1170432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9B59FF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075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95344" y="1298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Safety Sim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10712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side effects before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patient is enrolled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1170432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FF5E7D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0759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1424" y="1298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Prediction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36792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well it works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full trial of 120 patients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7472" y="2798064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F5A623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935224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9264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Nigerian-Specific Data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84632" y="34564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genetic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West Africa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73552" y="2798064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2DD98A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935224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95344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Readiness Score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3410712" y="34564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close you are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NAFDAC application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199632" y="2798064"/>
            <a:ext cx="2788920" cy="1481328"/>
          </a:xfrm>
          <a:prstGeom prst="roundRect">
            <a:avLst>
              <a:gd name="adj" fmla="val 6173"/>
            </a:avLst>
          </a:prstGeom>
          <a:solidFill>
            <a:srgbClr val="0A1525"/>
          </a:solidFill>
          <a:ln w="12700">
            <a:solidFill>
              <a:srgbClr val="4A9EFF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2935224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21424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Routes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336792" y="34564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TETFund, NIH Fogarty,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Wellcome Trust grants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347472" y="4407408"/>
            <a:ext cx="8458200" cy="411480"/>
          </a:xfrm>
          <a:prstGeom prst="roundRect">
            <a:avLst>
              <a:gd name="adj" fmla="val 17778"/>
            </a:avLst>
          </a:prstGeom>
          <a:solidFill>
            <a:srgbClr val="1A0A2A"/>
          </a:solidFill>
          <a:ln w="12700">
            <a:solidFill>
              <a:srgbClr val="9B59FF">
                <a:alpha val="5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02920" y="44256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cinnamon result: IND readiness score 62/100 — 3 key steps to go. Estimated 24–36 months with the right partners.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9EFF"/>
                </a:solidFill>
              </a:rPr>
              <a:t>THE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Real Data — Not a Simulation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0299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0D4B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029968" cy="73152"/>
          </a:xfrm>
          <a:prstGeom prst="roundRect">
            <a:avLst>
              <a:gd name="adj" fmla="val 150000"/>
            </a:avLst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rats tested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study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115568"/>
            <a:ext cx="20299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B59FF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15568"/>
            <a:ext cx="2029968" cy="73152"/>
          </a:xfrm>
          <a:prstGeom prst="roundRect">
            <a:avLst>
              <a:gd name="adj" fmla="val 150000"/>
            </a:avLst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26187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96312" y="20116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3042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measures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per animal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115568"/>
            <a:ext cx="20299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2DD98A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115568"/>
            <a:ext cx="2029968" cy="73152"/>
          </a:xfrm>
          <a:prstGeom prst="roundRect">
            <a:avLst>
              <a:gd name="adj" fmla="val 150000"/>
            </a:avLst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6187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84.8%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72584" y="20116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3042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correctly identifies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each animal is 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115568"/>
            <a:ext cx="20299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115568"/>
            <a:ext cx="2029968" cy="73152"/>
          </a:xfrm>
          <a:prstGeom prst="roundRect">
            <a:avLst>
              <a:gd name="adj" fmla="val 1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126187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48856" y="20116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Success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3042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model perfectly separates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brain-protected vs not protected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cinnamon compounds scored: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Cinnamaldehyde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345643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8EEF8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3456432"/>
            <a:ext cx="4364182" cy="201168"/>
          </a:xfrm>
          <a:prstGeom prst="roundRect">
            <a:avLst>
              <a:gd name="adj" fmla="val 18182"/>
            </a:avLst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429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-10.5 kcal/mol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09560" y="3429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(Alzheimer's)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Eugenol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31720" y="3749040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8EEF8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1720" y="3749040"/>
            <a:ext cx="3782291" cy="201168"/>
          </a:xfrm>
          <a:prstGeom prst="roundRect">
            <a:avLst>
              <a:gd name="adj" fmla="val 18182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721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-9.1 kcal/mol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MAO-A/B (Parkinson's too)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31720" y="4041648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8EEF8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1720" y="4041648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-8.8 kcal/mol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09560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+ BACE1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Caryophyllene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31720" y="4334256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8EEF8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31720" y="4334256"/>
            <a:ext cx="3449782" cy="201168"/>
          </a:xfrm>
          <a:prstGeom prst="roundRect">
            <a:avLst>
              <a:gd name="adj" fmla="val 18182"/>
            </a:avLst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306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 kcal/mol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09560" y="4306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CB2 (Stroke)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599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τ-Muurolol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31720" y="4626864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8EEF8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31720" y="4626864"/>
            <a:ext cx="3241964" cy="201168"/>
          </a:xfrm>
          <a:prstGeom prst="roundRect">
            <a:avLst>
              <a:gd name="adj" fmla="val 18182"/>
            </a:avLst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4599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-7.8 kcal/mol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4599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NF-κB (Inflammation)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7D"/>
                </a:solidFill>
              </a:rPr>
              <a:t>TARGET DISEASES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Plant. Two Diseases. Real Hope.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3611880"/>
          </a:xfrm>
          <a:prstGeom prst="roundRect">
            <a:avLst>
              <a:gd name="adj" fmla="val 3544"/>
            </a:avLst>
          </a:prstGeom>
          <a:solidFill>
            <a:srgbClr val="0F1E35"/>
          </a:solidFill>
          <a:ln w="12700">
            <a:solidFill>
              <a:srgbClr val="9B59FF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206240" cy="502920"/>
          </a:xfrm>
          <a:prstGeom prst="roundRect">
            <a:avLst>
              <a:gd name="adj" fmla="val 25455"/>
            </a:avLst>
          </a:prstGeom>
          <a:solidFill>
            <a:srgbClr val="9B59FF">
              <a:alpha val="70000"/>
            </a:srgbClr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Dementia / Alzheimer's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" y="18288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9B59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828800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9B59FF">
              <a:alpha val="70000"/>
            </a:srgbClr>
          </a:solidFill>
          <a:ln w="12700">
            <a:solidFill>
              <a:srgbClr val="9B59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828800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61288" y="18745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brain signals that control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same as donepezil drug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-10.5 kcal/mol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80720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9B59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807208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9B59FF">
              <a:alpha val="70000"/>
            </a:srgbClr>
          </a:solidFill>
          <a:ln w="12700">
            <a:solidFill>
              <a:srgbClr val="9B59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07208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BACE1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61288" y="285292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amyloid plaques forming 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sticky clumps that kill neurons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-9.8 kcal/mol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78561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9B59FF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785616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9B59FF">
              <a:alpha val="70000"/>
            </a:srgbClr>
          </a:solidFill>
          <a:ln w="12700">
            <a:solidFill>
              <a:srgbClr val="9B59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785616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GSK3B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383133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tau tangles — the second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 of Alzheimer's damage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0" y="38587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 kcal/mol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4114800" cy="3611880"/>
          </a:xfrm>
          <a:prstGeom prst="roundRect">
            <a:avLst>
              <a:gd name="adj" fmla="val 3544"/>
            </a:avLst>
          </a:prstGeom>
          <a:solidFill>
            <a:srgbClr val="0F2015"/>
          </a:solidFill>
          <a:ln w="12700">
            <a:solidFill>
              <a:srgbClr val="2DD98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88720"/>
            <a:ext cx="4114800" cy="502920"/>
          </a:xfrm>
          <a:prstGeom prst="roundRect">
            <a:avLst>
              <a:gd name="adj" fmla="val 25455"/>
            </a:avLst>
          </a:prstGeom>
          <a:solidFill>
            <a:srgbClr val="2DD98A">
              <a:alpha val="70000"/>
            </a:srgbClr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Stroke / Cerebrovascular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18288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2DD98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1828800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2DD98A">
              <a:alpha val="70000"/>
            </a:srgbClr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828800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NF-κB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04688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switch of brain inflammation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stroke — ALL 5 compounds hit this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47888" y="1901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80720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2DD98A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2807208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2DD98A">
              <a:alpha val="70000"/>
            </a:srgbClr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807208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NRF2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2852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the brain's own antioxidant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— protects dying neurons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47888" y="2880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SOD↑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78561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0A1525"/>
          </a:solidFill>
          <a:ln w="12700">
            <a:solidFill>
              <a:srgbClr val="2DD98A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3785616"/>
            <a:ext cx="658368" cy="841248"/>
          </a:xfrm>
          <a:prstGeom prst="roundRect">
            <a:avLst>
              <a:gd name="adj" fmla="val 11111"/>
            </a:avLst>
          </a:prstGeom>
          <a:solidFill>
            <a:srgbClr val="2DD98A">
              <a:alpha val="70000"/>
            </a:srgbClr>
          </a:solidFill>
          <a:ln w="12700">
            <a:solidFill>
              <a:srgbClr val="2DD98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785616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CB2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3831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Non-psychoactive cannabis receptor 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Caryophyllene is a selective agonist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47888" y="3858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919472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1A1A00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No other plant in African ethnopharmacology literature hits both Alzheimer's AND stroke targets this comprehensively in a single panel.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B8"/>
                </a:solidFill>
              </a:rPr>
              <a:t>YOUR TURN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Your Own Plant — Right Now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· pairs · open neuromatrixbiosystems.com/spice-to-synapse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0A1525"/>
          </a:solidFill>
          <a:ln w="12700">
            <a:solidFill>
              <a:srgbClr val="00D4B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627632"/>
            <a:ext cx="438912" cy="43891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21762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platform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" y="257860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neuromatrixbiosystems.com/spice-to-synapse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32888" y="150876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0A1525"/>
          </a:solidFill>
          <a:ln w="12700">
            <a:solidFill>
              <a:srgbClr val="00D4B8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627632"/>
            <a:ext cx="438912" cy="43891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1762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Module 01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257860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disease to "Both — Dementia &amp; Stroke"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45736" y="150876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0A1525"/>
          </a:solidFill>
          <a:ln w="1270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68696" y="1627632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8888" y="21762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plant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18888" y="257860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African medicinal plant your research or community uses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58584" y="150876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0A1525"/>
          </a:solidFill>
          <a:ln w="12700">
            <a:solidFill>
              <a:srgbClr val="2DD98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81544" y="1627632"/>
            <a:ext cx="438912" cy="438912"/>
          </a:xfrm>
          <a:prstGeom prst="ellipse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1544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1736" y="21762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31736" y="257860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20 seconds — read the full report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15 minutes — answer these three questions: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237744" cy="237744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your compound's best binding score — and does it pass the −9 threshold?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645152"/>
            <a:ext cx="237744" cy="237744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46268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compound hit Alzheimer's, Stroke, or both disease pathways?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74336"/>
            <a:ext cx="237744" cy="237744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74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5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9560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AI say you need next — lab partner, clinician, or co-author?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BUILD THE EMPIRE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Looking for Partners.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You One of Them?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DD98A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5910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Partner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8056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Your lab runs enzyme assays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" y="2414016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We write the analysis + paper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463040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5E7D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600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95344" y="15910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Neurologist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1568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 have AD/stroke patients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01568" y="2414016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01568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We provide the AI screening tool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27064" y="1463040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A9EFF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48856" y="15910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Bioinformatician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 build AI/ML models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55080" y="2414016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55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We have the real dataset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0040" y="3090672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D4B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22783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" y="32186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Researcher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48056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 have a plant to study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48056" y="4041648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48056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You get platform + methodology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73552" y="3090672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B59FF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2783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95344" y="32186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Co-Author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01568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 add clinical context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401568" y="4041648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401568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3 manuscripts ready to submit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27064" y="3090672"/>
            <a:ext cx="281635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27832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48856" y="32186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Partner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3550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You co-apply for funding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355080" y="4041648"/>
            <a:ext cx="2542032" cy="0"/>
          </a:xfrm>
          <a:prstGeom prst="line">
            <a:avLst/>
          </a:prstGeom>
          <a:noFill/>
          <a:ln w="12700">
            <a:solidFill>
              <a:srgbClr val="DDE8F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35508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Full portfolio + pilot data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98A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98A"/>
                </a:solidFill>
              </a:rPr>
              <a:t>THE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Cinnamon to Africa's First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Herb-Derived Brain Drug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47472" cy="347472"/>
          </a:xfrm>
          <a:prstGeom prst="ellipse">
            <a:avLst/>
          </a:prstGeom>
          <a:solidFill>
            <a:srgbClr val="1A4030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98A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481328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2DD98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Study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41832" y="2066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animals · 31 biomarkers · 7 groups · scopolamine AD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1920240"/>
            <a:ext cx="0" cy="731520"/>
          </a:xfrm>
          <a:prstGeom prst="line">
            <a:avLst/>
          </a:prstGeom>
          <a:noFill/>
          <a:ln w="19050">
            <a:solidFill>
              <a:srgbClr val="33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724912"/>
            <a:ext cx="347472" cy="347472"/>
          </a:xfrm>
          <a:prstGeom prst="ellipse">
            <a:avLst/>
          </a:prstGeom>
          <a:solidFill>
            <a:srgbClr val="1A4030"/>
          </a:solidFill>
          <a:ln w="12700">
            <a:solidFill>
              <a:srgbClr val="2D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98A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2DD98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706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1832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Built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" y="3236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· network pharmacology · ML 84.8% · human simulator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3090672"/>
            <a:ext cx="0" cy="731520"/>
          </a:xfrm>
          <a:prstGeom prst="line">
            <a:avLst/>
          </a:prstGeom>
          <a:noFill/>
          <a:ln w="19050">
            <a:solidFill>
              <a:srgbClr val="33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895344"/>
            <a:ext cx="347472" cy="347472"/>
          </a:xfrm>
          <a:prstGeom prst="ellipse">
            <a:avLst/>
          </a:prstGeom>
          <a:solidFill>
            <a:srgbClr val="3A28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82219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8770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Papers in Prep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" y="4407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Ethnopharmacology · PLOS ONE · Sci. Reports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1554480"/>
            <a:ext cx="347472" cy="347472"/>
          </a:xfrm>
          <a:prstGeom prst="ellipse">
            <a:avLst/>
          </a:prstGeom>
          <a:solidFill>
            <a:srgbClr val="1A204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1481328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00D4B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In-Vitro Enzyme Assays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76088" y="2066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&amp; BACE1 IC₅₀ · BBB confirmation · cytotoxicity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55464" y="1920240"/>
            <a:ext cx="0" cy="731520"/>
          </a:xfrm>
          <a:prstGeom prst="line">
            <a:avLst/>
          </a:prstGeom>
          <a:noFill/>
          <a:ln w="19050">
            <a:solidFill>
              <a:srgbClr val="3344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2724912"/>
            <a:ext cx="347472" cy="347472"/>
          </a:xfrm>
          <a:prstGeom prst="ellipse">
            <a:avLst/>
          </a:prstGeom>
          <a:solidFill>
            <a:srgbClr val="1A204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7216" y="2651760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2706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76088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Research Network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76088" y="3236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ANHRL consortium · 12 student researchers · pan-African plant database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55464" y="3090672"/>
            <a:ext cx="0" cy="731520"/>
          </a:xfrm>
          <a:prstGeom prst="line">
            <a:avLst/>
          </a:prstGeom>
          <a:noFill/>
          <a:ln w="19050">
            <a:solidFill>
              <a:srgbClr val="3344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3895344"/>
            <a:ext cx="347472" cy="347472"/>
          </a:xfrm>
          <a:prstGeom prst="ellipse">
            <a:avLst/>
          </a:prstGeom>
          <a:solidFill>
            <a:srgbClr val="1A2040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57216" y="382219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0A1525"/>
          </a:solidFill>
          <a:ln w="12700">
            <a:solidFill>
              <a:srgbClr val="9B59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38770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76088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NAFDAC Filing &amp; Trial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276088" y="4407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first computationally-validated herbal neuroprotective drug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4114800" y="182880"/>
            <a:ext cx="50292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ONE SENTENCE.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5943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built the machine that turns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African plant into a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drug candidate.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use it together."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2953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plants are a goldmine — we now have the tools to unlock them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558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3337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Cinnamon from your market already beats existing drug targets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3989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3721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platform is free, open, and works on any device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2394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" y="41056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builds Africa's drug discovery pipeline from the ground up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0799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77240" y="4489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partners — wet-lab, clinical, computational, and grant co-applicants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347472" y="4828032"/>
            <a:ext cx="8458200" cy="475488"/>
          </a:xfrm>
          <a:prstGeom prst="roundRect">
            <a:avLst>
              <a:gd name="adj" fmla="val 19231"/>
            </a:avLst>
          </a:prstGeom>
          <a:solidFill>
            <a:srgbClr val="1A3A5C"/>
          </a:solidFill>
          <a:ln w="12700">
            <a:solidFill>
              <a:srgbClr val="00D4B8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892040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41248" y="48463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neuromatrixbiosystems.com/spice-to-synapse  ·  Open now  ·  Free  ·  No account needed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Spice to Synapse — NSN 2026</dc:title>
  <dc:subject>PptxGenJS Presentation</dc:subject>
  <dc:creator>PptxGenJS</dc:creator>
  <cp:lastModifiedBy>PptxGenJS</cp:lastModifiedBy>
  <cp:revision>1</cp:revision>
  <dcterms:created xsi:type="dcterms:W3CDTF">2026-09-05T15:18:59Z</dcterms:created>
  <dcterms:modified xsi:type="dcterms:W3CDTF">2026-09-05T15:18:59Z</dcterms:modified>
</cp:coreProperties>
</file>